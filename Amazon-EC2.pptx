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29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8.jpeg" ContentType="image/jpeg"/>
  <Override PartName="/ppt/media/image5.png" ContentType="image/png"/>
  <Override PartName="/ppt/media/image30.png" ContentType="image/png"/>
  <Override PartName="/ppt/media/image28.png" ContentType="image/png"/>
  <Override PartName="/ppt/media/image7.jpeg" ContentType="image/jpeg"/>
  <Override PartName="/ppt/media/image20.png" ContentType="image/png"/>
  <Override PartName="/ppt/media/image27.png" ContentType="image/png"/>
  <Override PartName="/ppt/media/image4.png" ContentType="image/png"/>
  <Override PartName="/ppt/media/image34.png" ContentType="image/png"/>
  <Override PartName="/ppt/media/image10.png" ContentType="image/png"/>
  <Override PartName="/ppt/media/image18.png" ContentType="image/png"/>
  <Override PartName="/ppt/media/image6.jpeg" ContentType="image/jpeg"/>
  <Override PartName="/ppt/media/image13.png" ContentType="image/png"/>
  <Override PartName="/ppt/media/image12.png" ContentType="image/png"/>
  <Override PartName="/ppt/media/image14.jpeg" ContentType="image/jpeg"/>
  <Override PartName="/ppt/media/image33.png" ContentType="image/png"/>
  <Override PartName="/ppt/media/image3.png" ContentType="image/png"/>
  <Override PartName="/ppt/media/image26.png" ContentType="image/png"/>
  <Override PartName="/ppt/media/image11.png" ContentType="image/png"/>
  <Override PartName="/ppt/media/image9.jpeg" ContentType="image/jpe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5.png" ContentType="image/png"/>
  <Override PartName="/ppt/media/image16.png" ContentType="image/png"/>
  <Override PartName="/ppt/media/image17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25.xml.rels" ContentType="application/vnd.openxmlformats-package.relationships+xml"/>
  <Override PartName="/ppt/slides/_rels/slide16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/>
  <p:notesSz cx="6781800" cy="99187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480"/>
            <a:ext cx="77720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6848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85800" y="41302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6848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31380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594144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8580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31380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594144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85800" y="609480"/>
            <a:ext cx="77720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6848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85800" y="41302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6848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31380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594144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8580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31380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594144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85800" y="609480"/>
            <a:ext cx="77720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6848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85800" y="41302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6848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31380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594144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68580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31380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594144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685800" y="609480"/>
            <a:ext cx="77720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466848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685800" y="41302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466848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331380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594144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68580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331380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body"/>
          </p:nvPr>
        </p:nvSpPr>
        <p:spPr>
          <a:xfrm>
            <a:off x="594144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685800" y="609480"/>
            <a:ext cx="7772040" cy="5297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>
          <a:xfrm>
            <a:off x="466848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685800" y="4130280"/>
            <a:ext cx="7772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4668480" y="19810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body"/>
          </p:nvPr>
        </p:nvSpPr>
        <p:spPr>
          <a:xfrm>
            <a:off x="68580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body"/>
          </p:nvPr>
        </p:nvSpPr>
        <p:spPr>
          <a:xfrm>
            <a:off x="4668480" y="4130280"/>
            <a:ext cx="379260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331380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body"/>
          </p:nvPr>
        </p:nvSpPr>
        <p:spPr>
          <a:xfrm>
            <a:off x="5941440" y="19810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body"/>
          </p:nvPr>
        </p:nvSpPr>
        <p:spPr>
          <a:xfrm>
            <a:off x="68580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 type="body"/>
          </p:nvPr>
        </p:nvSpPr>
        <p:spPr>
          <a:xfrm>
            <a:off x="331380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 type="body"/>
          </p:nvPr>
        </p:nvSpPr>
        <p:spPr>
          <a:xfrm>
            <a:off x="5941440" y="4130280"/>
            <a:ext cx="25023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248520"/>
            <a:ext cx="1904760" cy="45684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FFD1386D-BC06-476B-8705-100294ED0436}" type="slidenum"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tarSymbo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248520"/>
            <a:ext cx="1904760" cy="45684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500F990F-B74B-4F67-A98C-36C4869DAF27}" type="slidenum"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/>
          </p:nvPr>
        </p:nvSpPr>
        <p:spPr>
          <a:xfrm>
            <a:off x="6553080" y="6248520"/>
            <a:ext cx="1904760" cy="45684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086B7597-FEE0-4C32-87E0-00F8660CBADF}" type="slidenum"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dt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ftr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/>
          </p:nvPr>
        </p:nvSpPr>
        <p:spPr>
          <a:xfrm>
            <a:off x="6553080" y="6248520"/>
            <a:ext cx="1904760" cy="45684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EA69AB83-1C66-45FD-9E1B-8B1D5123FBFB}" type="slidenum"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/>
          </p:nvPr>
        </p:nvSpPr>
        <p:spPr>
          <a:xfrm>
            <a:off x="6553080" y="6248520"/>
            <a:ext cx="1904760" cy="45684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3994C928-E1D3-49F3-9153-FF241CE25613}" type="slidenum"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3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hyperlink" Target="http://en.wikipedia.org/wiki/Software_architecture" TargetMode="External"/><Relationship Id="rId2" Type="http://schemas.openxmlformats.org/officeDocument/2006/relationships/hyperlink" Target="http://en.wikipedia.org/wiki/Web_application" TargetMode="External"/><Relationship Id="rId3" Type="http://schemas.openxmlformats.org/officeDocument/2006/relationships/hyperlink" Target="http://en.wikipedia.org/wiki/Facebook" TargetMode="External"/><Relationship Id="rId4" Type="http://schemas.openxmlformats.org/officeDocument/2006/relationships/hyperlink" Target="http://en.wikipedia.org/wiki/Software_as_a_service" TargetMode="External"/><Relationship Id="rId5" Type="http://schemas.openxmlformats.org/officeDocument/2006/relationships/hyperlink" Target="http://en.wikipedia.org/wiki/Google_Apps" TargetMode="External"/><Relationship Id="rId6" Type="http://schemas.openxmlformats.org/officeDocument/2006/relationships/hyperlink" Target="http://en.wikipedia.org/wiki/SAP_Business_ByDesign" TargetMode="External"/><Relationship Id="rId7" Type="http://schemas.openxmlformats.org/officeDocument/2006/relationships/hyperlink" Target="http://en.wikipedia.org/wiki/Salesforce" TargetMode="External"/><Relationship Id="rId8" Type="http://schemas.openxmlformats.org/officeDocument/2006/relationships/hyperlink" Target="http://en.wikipedia.org/wiki/Software_plus_services" TargetMode="External"/><Relationship Id="rId9" Type="http://schemas.openxmlformats.org/officeDocument/2006/relationships/hyperlink" Target="http://en.wikipedia.org/wiki/Microsoft_Online_Services" TargetMode="External"/><Relationship Id="rId10" Type="http://schemas.openxmlformats.org/officeDocument/2006/relationships/hyperlink" Target="http://en.wikipedia.org/wiki/Computer_hardware" TargetMode="External"/><Relationship Id="rId11" Type="http://schemas.openxmlformats.org/officeDocument/2006/relationships/hyperlink" Target="http://en.wikipedia.org/wiki/Computer_software" TargetMode="External"/><Relationship Id="rId12" Type="http://schemas.openxmlformats.org/officeDocument/2006/relationships/hyperlink" Target="http://en.wikipedia.org/wiki/The_Cloud" TargetMode="External"/><Relationship Id="rId13" Type="http://schemas.openxmlformats.org/officeDocument/2006/relationships/hyperlink" Target="http://en.wikipedia.org/wiki/Mobile_computing" TargetMode="External"/><Relationship Id="rId14" Type="http://schemas.openxmlformats.org/officeDocument/2006/relationships/hyperlink" Target="http://en.wikipedia.org/wiki/Android_(mobile_device_platform)" TargetMode="External"/><Relationship Id="rId15" Type="http://schemas.openxmlformats.org/officeDocument/2006/relationships/hyperlink" Target="http://en.wikipedia.org/wiki/IPhone" TargetMode="External"/><Relationship Id="rId16" Type="http://schemas.openxmlformats.org/officeDocument/2006/relationships/hyperlink" Target="http://en.wikipedia.org/wiki/Thick_client" TargetMode="External"/><Relationship Id="rId17" Type="http://schemas.openxmlformats.org/officeDocument/2006/relationships/hyperlink" Target="http://en.wikipedia.org/wiki/Web_browser" TargetMode="External"/><Relationship Id="rId18" Type="http://schemas.openxmlformats.org/officeDocument/2006/relationships/hyperlink" Target="http://en.wikipedia.org/wiki/Google_Chrome" TargetMode="External"/><Relationship Id="rId19" Type="http://schemas.openxmlformats.org/officeDocument/2006/relationships/hyperlink" Target="http://en.wikipedia.org/wiki/Mozilla_Firefox" TargetMode="External"/><Relationship Id="rId20" Type="http://schemas.openxmlformats.org/officeDocument/2006/relationships/image" Target="../media/image25.png"/><Relationship Id="rId21" Type="http://schemas.openxmlformats.org/officeDocument/2006/relationships/slideLayout" Target="../slideLayouts/slideLayout3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hyperlink" Target="http://en.wikipedia.org/wiki/Infrastructure_as_a_service" TargetMode="External"/><Relationship Id="rId2" Type="http://schemas.openxmlformats.org/officeDocument/2006/relationships/hyperlink" Target="http://en.wikipedia.org/wiki/Computer" TargetMode="External"/><Relationship Id="rId3" Type="http://schemas.openxmlformats.org/officeDocument/2006/relationships/hyperlink" Target="http://en.wikipedia.org/wiki/Infrastructure" TargetMode="External"/><Relationship Id="rId4" Type="http://schemas.openxmlformats.org/officeDocument/2006/relationships/hyperlink" Target="http://en.wikipedia.org/wiki/Platform_virtualization" TargetMode="External"/><Relationship Id="rId5" Type="http://schemas.openxmlformats.org/officeDocument/2006/relationships/hyperlink" Target="http://en.wikipedia.org/wiki/Everything_as_a_service" TargetMode="External"/><Relationship Id="rId6" Type="http://schemas.openxmlformats.org/officeDocument/2006/relationships/hyperlink" Target="http://en.wikipedia.org/wiki/Full_virtualization" TargetMode="External"/><Relationship Id="rId7" Type="http://schemas.openxmlformats.org/officeDocument/2006/relationships/hyperlink" Target="http://en.wikipedia.org/wiki/GoGrid" TargetMode="External"/><Relationship Id="rId8" Type="http://schemas.openxmlformats.org/officeDocument/2006/relationships/hyperlink" Target="http://en.wikipedia.org/wiki/Skytap" TargetMode="External"/><Relationship Id="rId9" Type="http://schemas.openxmlformats.org/officeDocument/2006/relationships/hyperlink" Target="http://en.wikipedia.org/wiki/Grid_computing" TargetMode="External"/><Relationship Id="rId10" Type="http://schemas.openxmlformats.org/officeDocument/2006/relationships/hyperlink" Target="http://en.wikipedia.org/wiki/Sun_Grid" TargetMode="External"/><Relationship Id="rId11" Type="http://schemas.openxmlformats.org/officeDocument/2006/relationships/hyperlink" Target="http://en.wikipedia.org/wiki/Compute" TargetMode="External"/><Relationship Id="rId12" Type="http://schemas.openxmlformats.org/officeDocument/2006/relationships/hyperlink" Target="http://en.wikipedia.org/wiki/Amazon_Elastic_Compute_Cloud" TargetMode="External"/><Relationship Id="rId13" Type="http://schemas.openxmlformats.org/officeDocument/2006/relationships/hyperlink" Target="http://en.wikipedia.org/wiki/Platform_as_a_service" TargetMode="External"/><Relationship Id="rId14" Type="http://schemas.openxmlformats.org/officeDocument/2006/relationships/hyperlink" Target="http://en.wikipedia.org/wiki/Computing_platform" TargetMode="External"/><Relationship Id="rId15" Type="http://schemas.openxmlformats.org/officeDocument/2006/relationships/hyperlink" Target="http://en.wikipedia.org/wiki/Solution_stack" TargetMode="External"/><Relationship Id="rId16" Type="http://schemas.openxmlformats.org/officeDocument/2006/relationships/hyperlink" Target="http://en.wikipedia.org/wiki/Everything_as_a_service" TargetMode="External"/><Relationship Id="rId17" Type="http://schemas.openxmlformats.org/officeDocument/2006/relationships/hyperlink" Target="http://en.wikipedia.org/wiki/Web_application_framework" TargetMode="External"/><Relationship Id="rId18" Type="http://schemas.openxmlformats.org/officeDocument/2006/relationships/hyperlink" Target="http://en.wikipedia.org/wiki/Ajax" TargetMode="External"/><Relationship Id="rId19" Type="http://schemas.openxmlformats.org/officeDocument/2006/relationships/hyperlink" Target="http://en.wikipedia.org/wiki/Caspio" TargetMode="External"/><Relationship Id="rId20" Type="http://schemas.openxmlformats.org/officeDocument/2006/relationships/hyperlink" Target="http://en.wikipedia.org/wiki/Python_(programming_language)" TargetMode="External"/><Relationship Id="rId21" Type="http://schemas.openxmlformats.org/officeDocument/2006/relationships/hyperlink" Target="http://en.wikipedia.org/wiki/Django_(web_framework)" TargetMode="External"/><Relationship Id="rId22" Type="http://schemas.openxmlformats.org/officeDocument/2006/relationships/hyperlink" Target="http://en.wikipedia.org/wiki/Google_App_Engine" TargetMode="External"/><Relationship Id="rId23" Type="http://schemas.openxmlformats.org/officeDocument/2006/relationships/hyperlink" Target="http://en.wikipedia.org/wiki/Ruby_on_Rails" TargetMode="External"/><Relationship Id="rId24" Type="http://schemas.openxmlformats.org/officeDocument/2006/relationships/hyperlink" Target="http://en.wikipedia.org/wiki/Heroku" TargetMode="External"/><Relationship Id="rId25" Type="http://schemas.openxmlformats.org/officeDocument/2006/relationships/hyperlink" Target="http://en.wikipedia.org/wiki/Web_hosting" TargetMode="External"/><Relationship Id="rId26" Type="http://schemas.openxmlformats.org/officeDocument/2006/relationships/hyperlink" Target="http://en.wikipedia.org/wiki/Mosso_(web_host)" TargetMode="External"/><Relationship Id="rId27" Type="http://schemas.openxmlformats.org/officeDocument/2006/relationships/hyperlink" Target="http://en.wikipedia.org/wiki/Clustered_Cloud" TargetMode="External"/><Relationship Id="rId28" Type="http://schemas.openxmlformats.org/officeDocument/2006/relationships/image" Target="../media/image26.png"/><Relationship Id="rId29" Type="http://schemas.openxmlformats.org/officeDocument/2006/relationships/slideLayout" Target="../slideLayouts/slideLayout3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hyperlink" Target="http://en.wikipedia.org/wiki/Identity" TargetMode="External"/><Relationship Id="rId2" Type="http://schemas.openxmlformats.org/officeDocument/2006/relationships/hyperlink" Target="http://en.wikipedia.org/wiki/OAuth" TargetMode="External"/><Relationship Id="rId3" Type="http://schemas.openxmlformats.org/officeDocument/2006/relationships/hyperlink" Target="http://en.wikipedia.org/wiki/OpenID" TargetMode="External"/><Relationship Id="rId4" Type="http://schemas.openxmlformats.org/officeDocument/2006/relationships/hyperlink" Target="http://en.wikipedia.org/wiki/Payment" TargetMode="External"/><Relationship Id="rId5" Type="http://schemas.openxmlformats.org/officeDocument/2006/relationships/hyperlink" Target="http://en.wikipedia.org/wiki/Amazon_Flexible_Payments_Service" TargetMode="External"/><Relationship Id="rId6" Type="http://schemas.openxmlformats.org/officeDocument/2006/relationships/hyperlink" Target="http://en.wikipedia.org/wiki/Google_Checkout" TargetMode="External"/><Relationship Id="rId7" Type="http://schemas.openxmlformats.org/officeDocument/2006/relationships/hyperlink" Target="http://en.wikipedia.org/wiki/PayPal" TargetMode="External"/><Relationship Id="rId8" Type="http://schemas.openxmlformats.org/officeDocument/2006/relationships/hyperlink" Target="http://en.wikipedia.org/wiki/Web_mapping" TargetMode="External"/><Relationship Id="rId9" Type="http://schemas.openxmlformats.org/officeDocument/2006/relationships/hyperlink" Target="http://en.wikipedia.org/wiki/Google_Maps" TargetMode="External"/><Relationship Id="rId10" Type="http://schemas.openxmlformats.org/officeDocument/2006/relationships/hyperlink" Target="http://en.wikipedia.org/wiki/Yahoo!_Maps" TargetMode="External"/><Relationship Id="rId11" Type="http://schemas.openxmlformats.org/officeDocument/2006/relationships/hyperlink" Target="http://en.wikipedia.org/wiki/Web_search_engine" TargetMode="External"/><Relationship Id="rId12" Type="http://schemas.openxmlformats.org/officeDocument/2006/relationships/hyperlink" Target="http://en.wikipedia.org/wiki/Alexa_Internet" TargetMode="External"/><Relationship Id="rId13" Type="http://schemas.openxmlformats.org/officeDocument/2006/relationships/hyperlink" Target="http://en.wikipedia.org/wiki/Google_Custom_Search" TargetMode="External"/><Relationship Id="rId14" Type="http://schemas.openxmlformats.org/officeDocument/2006/relationships/hyperlink" Target="http://en.wikipedia.org/wiki/Yahoo!_Search_BOSS" TargetMode="External"/><Relationship Id="rId15" Type="http://schemas.openxmlformats.org/officeDocument/2006/relationships/hyperlink" Target="http://en.wikipedia.org/wiki/Computer_data_storage" TargetMode="External"/><Relationship Id="rId16" Type="http://schemas.openxmlformats.org/officeDocument/2006/relationships/hyperlink" Target="http://en.wikipedia.org/wiki/Everything_as_a_service" TargetMode="External"/><Relationship Id="rId17" Type="http://schemas.openxmlformats.org/officeDocument/2006/relationships/hyperlink" Target="http://en.wikipedia.org/wiki/Utility_computing" TargetMode="External"/><Relationship Id="rId18" Type="http://schemas.openxmlformats.org/officeDocument/2006/relationships/hyperlink" Target="http://en.wikipedia.org/wiki/Gigabyte" TargetMode="External"/><Relationship Id="rId19" Type="http://schemas.openxmlformats.org/officeDocument/2006/relationships/hyperlink" Target="http://en.wikipedia.org/wiki/Database" TargetMode="External"/><Relationship Id="rId20" Type="http://schemas.openxmlformats.org/officeDocument/2006/relationships/hyperlink" Target="http://en.wikipedia.org/wiki/Amazon_SimpleDB" TargetMode="External"/><Relationship Id="rId21" Type="http://schemas.openxmlformats.org/officeDocument/2006/relationships/hyperlink" Target="http://en.wikipedia.org/wiki/Google_App_Engine" TargetMode="External"/><Relationship Id="rId22" Type="http://schemas.openxmlformats.org/officeDocument/2006/relationships/hyperlink" Target="http://en.wikipedia.org/wiki/BigTable" TargetMode="External"/><Relationship Id="rId23" Type="http://schemas.openxmlformats.org/officeDocument/2006/relationships/hyperlink" Target="http://en.wikipedia.org/wiki/Web_service" TargetMode="External"/><Relationship Id="rId24" Type="http://schemas.openxmlformats.org/officeDocument/2006/relationships/hyperlink" Target="http://en.wikipedia.org/wiki/Amazon_Simple_Storage_Service" TargetMode="External"/><Relationship Id="rId25" Type="http://schemas.openxmlformats.org/officeDocument/2006/relationships/hyperlink" Target="http://en.wikipedia.org/wiki/Nirvanix" TargetMode="External"/><Relationship Id="rId26" Type="http://schemas.openxmlformats.org/officeDocument/2006/relationships/image" Target="../media/image27.png"/><Relationship Id="rId27" Type="http://schemas.openxmlformats.org/officeDocument/2006/relationships/slideLayout" Target="../slideLayouts/slideLayout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4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hyperlink" Target="http://investing.businessweek.com/businessweek/research/stocks/people/person.asp?personId=266019&amp;symbol=DELL" TargetMode="External"/><Relationship Id="rId2" Type="http://schemas.openxmlformats.org/officeDocument/2006/relationships/hyperlink" Target="http://investing.businessweek.com/businessweek/research/stocks/people/person.asp?personId=181602&amp;symbol=MSFT" TargetMode="External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hyperlink" Target="http://en.wikipedia.org/wiki/Cloud_computing" TargetMode="External"/><Relationship Id="rId2" Type="http://schemas.openxmlformats.org/officeDocument/2006/relationships/hyperlink" Target="http://www.eecs.berkeley.edu/Pubs/TechRpts/2009/EECS-2009-28.pdf" TargetMode="External"/><Relationship Id="rId3" Type="http://schemas.openxmlformats.org/officeDocument/2006/relationships/hyperlink" Target="http://www.businessweek.com/technology/content/aug2008/tc2008082_445669.htm" TargetMode="External"/><Relationship Id="rId4" Type="http://schemas.openxmlformats.org/officeDocument/2006/relationships/hyperlink" Target="http://mba.tuck.dartmouth.edu/digital/Programs/MBAFellowsProgramArchive/08_rana.pdf" TargetMode="External"/><Relationship Id="rId5" Type="http://schemas.openxmlformats.org/officeDocument/2006/relationships/image" Target="../media/image34.png"/><Relationship Id="rId6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>
          <a:xfrm>
            <a:off x="1157400" y="99072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br/>
            <a:br/>
            <a:r>
              <a:rPr b="0" i="1" lang="en-GB" sz="4300" spc="-1" strike="noStrike">
                <a:solidFill>
                  <a:srgbClr val="000000"/>
                </a:solidFill>
                <a:latin typeface="Century Gothic"/>
                <a:ea typeface="ＭＳ Ｐゴシック"/>
              </a:rPr>
              <a:t>An Introduction to</a:t>
            </a:r>
            <a:br/>
            <a:r>
              <a:rPr b="0" lang="en-GB" sz="4300" spc="-1" strike="noStrike">
                <a:solidFill>
                  <a:srgbClr val="000000"/>
                </a:solidFill>
                <a:latin typeface="Century Gothic"/>
                <a:ea typeface="ＭＳ Ｐゴシック"/>
              </a:rPr>
              <a:t> </a:t>
            </a:r>
            <a:r>
              <a:rPr b="1" lang="en-GB" sz="4300" spc="-1" strike="noStrike">
                <a:solidFill>
                  <a:srgbClr val="000000"/>
                </a:solidFill>
                <a:latin typeface="Century Gothic"/>
                <a:ea typeface="ＭＳ Ｐゴシック"/>
              </a:rPr>
              <a:t>AWS </a:t>
            </a:r>
            <a:br/>
            <a:r>
              <a:rPr b="1" lang="en-GB" sz="4300" spc="-1" strike="noStrike">
                <a:solidFill>
                  <a:srgbClr val="000000"/>
                </a:solidFill>
                <a:latin typeface="Century Gothic"/>
                <a:ea typeface="ＭＳ Ｐゴシック"/>
              </a:rPr>
              <a:t>Cloud Computing </a:t>
            </a:r>
            <a:r>
              <a:rPr b="0" lang="en-GB" sz="4300" spc="-1" strike="noStrike">
                <a:solidFill>
                  <a:srgbClr val="000000"/>
                </a:solidFill>
                <a:latin typeface="Century Gothic"/>
                <a:ea typeface="ＭＳ Ｐゴシック"/>
              </a:rPr>
              <a:t>(IAAS)</a:t>
            </a:r>
            <a:endParaRPr b="0" lang="en-US" sz="4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Shape 2"/>
          <p:cNvSpPr txBox="1"/>
          <p:nvPr/>
        </p:nvSpPr>
        <p:spPr>
          <a:xfrm>
            <a:off x="1371600" y="1828800"/>
            <a:ext cx="6400440" cy="358092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IN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endParaRPr b="0" lang="en-IN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  </a:t>
            </a:r>
            <a:endParaRPr b="0" lang="en-IN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    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By</a:t>
            </a:r>
            <a:endParaRPr b="0" lang="en-IN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n-IN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  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MANINDER SINGH BHUI </a:t>
            </a:r>
            <a:br/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   </a:t>
            </a:r>
            <a:endParaRPr b="0" lang="en-IN" sz="2000" spc="-1" strike="noStrike">
              <a:latin typeface="Arial"/>
            </a:endParaRPr>
          </a:p>
        </p:txBody>
      </p:sp>
      <p:pic>
        <p:nvPicPr>
          <p:cNvPr id="207" name="Picture 6" descr="EmailCloud_image.png"/>
          <p:cNvPicPr/>
          <p:nvPr/>
        </p:nvPicPr>
        <p:blipFill>
          <a:blip r:embed="rId1"/>
          <a:stretch/>
        </p:blipFill>
        <p:spPr>
          <a:xfrm>
            <a:off x="8039160" y="5857920"/>
            <a:ext cx="1099800" cy="999720"/>
          </a:xfrm>
          <a:prstGeom prst="rect">
            <a:avLst/>
          </a:prstGeom>
          <a:ln w="9360">
            <a:noFill/>
          </a:ln>
        </p:spPr>
      </p:pic>
      <p:pic>
        <p:nvPicPr>
          <p:cNvPr id="208" name="Picture 4" descr="download.png"/>
          <p:cNvPicPr/>
          <p:nvPr/>
        </p:nvPicPr>
        <p:blipFill>
          <a:blip r:embed="rId2"/>
          <a:stretch/>
        </p:blipFill>
        <p:spPr>
          <a:xfrm>
            <a:off x="0" y="0"/>
            <a:ext cx="2285640" cy="1390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Major Topics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Shape 2"/>
          <p:cNvSpPr txBox="1"/>
          <p:nvPr/>
        </p:nvSpPr>
        <p:spPr>
          <a:xfrm>
            <a:off x="685800" y="1981080"/>
            <a:ext cx="84578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Computing Models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Evolution of Cloud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as a Business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Benefits of Cloud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Computing Models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Desktop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Client Server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Cluster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Grid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Desktop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Content Placeholder 3" descr="Desktop Computing.png"/>
          <p:cNvPicPr/>
          <p:nvPr/>
        </p:nvPicPr>
        <p:blipFill>
          <a:blip r:embed="rId1"/>
          <a:stretch/>
        </p:blipFill>
        <p:spPr>
          <a:xfrm>
            <a:off x="1357200" y="2000160"/>
            <a:ext cx="2676240" cy="1933200"/>
          </a:xfrm>
          <a:prstGeom prst="rect">
            <a:avLst/>
          </a:prstGeom>
          <a:ln w="9360">
            <a:noFill/>
          </a:ln>
        </p:spPr>
      </p:pic>
      <p:sp>
        <p:nvSpPr>
          <p:cNvPr id="215" name="CustomShape 2"/>
          <p:cNvSpPr/>
          <p:nvPr/>
        </p:nvSpPr>
        <p:spPr>
          <a:xfrm>
            <a:off x="4643280" y="1981080"/>
            <a:ext cx="3814560" cy="29476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 marL="343080" indent="-342720" algn="just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MS Office</a:t>
            </a:r>
            <a:endParaRPr b="0" lang="en-IN" sz="40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Abode Reader</a:t>
            </a:r>
            <a:endParaRPr b="0" lang="en-IN" sz="40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AutoCAD S/W</a:t>
            </a:r>
            <a:endParaRPr b="0" lang="en-IN" sz="40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Photoshop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16" name="CustomShape 3"/>
          <p:cNvSpPr/>
          <p:nvPr/>
        </p:nvSpPr>
        <p:spPr>
          <a:xfrm>
            <a:off x="285840" y="5429160"/>
            <a:ext cx="8429400" cy="1161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 marL="343080" indent="-342720" algn="ctr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i="1" lang="en-US" sz="40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No Internet Connection is requires in this model</a:t>
            </a:r>
            <a:endParaRPr b="0" lang="en-IN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Client-Server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CustomShape 2"/>
          <p:cNvSpPr/>
          <p:nvPr/>
        </p:nvSpPr>
        <p:spPr>
          <a:xfrm>
            <a:off x="285840" y="5429160"/>
            <a:ext cx="8429400" cy="1161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 marL="343080" indent="-342720" algn="ctr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i="1" lang="en-US" sz="40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It can run with both Internet &amp; Intranet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219" name="Picture 6" descr="ClientServer.png"/>
          <p:cNvPicPr/>
          <p:nvPr/>
        </p:nvPicPr>
        <p:blipFill>
          <a:blip r:embed="rId1"/>
          <a:stretch/>
        </p:blipFill>
        <p:spPr>
          <a:xfrm>
            <a:off x="1214280" y="1714320"/>
            <a:ext cx="6214680" cy="3776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Shape 1"/>
          <p:cNvSpPr txBox="1"/>
          <p:nvPr/>
        </p:nvSpPr>
        <p:spPr>
          <a:xfrm>
            <a:off x="42876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Cluster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1" name="Picture 4" descr="Clustering.png"/>
          <p:cNvPicPr/>
          <p:nvPr/>
        </p:nvPicPr>
        <p:blipFill>
          <a:blip r:embed="rId1"/>
          <a:stretch/>
        </p:blipFill>
        <p:spPr>
          <a:xfrm>
            <a:off x="1285920" y="1571760"/>
            <a:ext cx="6593760" cy="4983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/>
          <p:cNvSpPr txBox="1"/>
          <p:nvPr/>
        </p:nvSpPr>
        <p:spPr>
          <a:xfrm>
            <a:off x="428760" y="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Grid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Picture 3" descr="Grid.jpg"/>
          <p:cNvPicPr/>
          <p:nvPr/>
        </p:nvPicPr>
        <p:blipFill>
          <a:blip r:embed="rId1"/>
          <a:stretch/>
        </p:blipFill>
        <p:spPr>
          <a:xfrm>
            <a:off x="0" y="1143000"/>
            <a:ext cx="8772120" cy="5371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= </a:t>
            </a:r>
            <a:r>
              <a:rPr b="1" lang="en-US" sz="44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Cluster + Grid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Content Placeholder 3" descr="Cloud.jpg"/>
          <p:cNvPicPr/>
          <p:nvPr/>
        </p:nvPicPr>
        <p:blipFill>
          <a:blip r:embed="rId1"/>
          <a:stretch/>
        </p:blipFill>
        <p:spPr>
          <a:xfrm>
            <a:off x="1214280" y="1981080"/>
            <a:ext cx="6714720" cy="471060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Does Cloud is Internet 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or</a:t>
            </a:r>
            <a:r>
              <a:rPr b="1" lang="en-US" sz="44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 Internet is Cloud 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 algn="just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Little bit same things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Before proceed We’ll understand the Internet project that was started with Arpanet project in 1969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Shape 1"/>
          <p:cNvSpPr txBox="1"/>
          <p:nvPr/>
        </p:nvSpPr>
        <p:spPr>
          <a:xfrm>
            <a:off x="285840" y="609480"/>
            <a:ext cx="885780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Evolution of Cloud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Shape 2"/>
          <p:cNvSpPr txBox="1"/>
          <p:nvPr/>
        </p:nvSpPr>
        <p:spPr>
          <a:xfrm>
            <a:off x="685800" y="1981080"/>
            <a:ext cx="802908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About ARPANET Project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Started in 1969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343080" indent="-34272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Email Service Introduced in 1972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lvl="1" marL="343080" indent="-34272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www </a:t>
            </a: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(world wide web)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born and made public in 1991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743040" indent="-742680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More About Arpanet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Content Placeholder 3" descr="Arpanet.jpg"/>
          <p:cNvPicPr/>
          <p:nvPr/>
        </p:nvPicPr>
        <p:blipFill>
          <a:blip r:embed="rId1"/>
          <a:stretch/>
        </p:blipFill>
        <p:spPr>
          <a:xfrm>
            <a:off x="793800" y="1714320"/>
            <a:ext cx="7556400" cy="51433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Growth of Contents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Shape 2"/>
          <p:cNvSpPr txBox="1"/>
          <p:nvPr/>
        </p:nvSpPr>
        <p:spPr>
          <a:xfrm>
            <a:off x="285840" y="1981080"/>
            <a:ext cx="857232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Contents plays key role in internet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Let internet users write the contents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Free Internet Service for Contents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Email - Gmail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Blogs- Blogger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Wikis- Wikipedia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Forum-topix.com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Chat- Yahoo , Skype, Google Hangouts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Social Networking - Facebook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Online Sale- eBay, Amazon, Flipkart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6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Private Cloud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Toyota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Citi Bank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WalMart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Shape 1"/>
          <p:cNvSpPr txBox="1"/>
          <p:nvPr/>
        </p:nvSpPr>
        <p:spPr>
          <a:xfrm>
            <a:off x="685800" y="609480"/>
            <a:ext cx="802908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6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in Internet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Google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Microsoft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Salseforce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IBM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Shape 1"/>
          <p:cNvSpPr txBox="1"/>
          <p:nvPr/>
        </p:nvSpPr>
        <p:spPr>
          <a:xfrm>
            <a:off x="357120" y="609480"/>
            <a:ext cx="810072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Data Centre: Private v/s Public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Content Placeholder 3" descr="Data Center.jpg"/>
          <p:cNvPicPr/>
          <p:nvPr/>
        </p:nvPicPr>
        <p:blipFill>
          <a:blip r:embed="rId1"/>
          <a:stretch/>
        </p:blipFill>
        <p:spPr>
          <a:xfrm>
            <a:off x="1102680" y="1981080"/>
            <a:ext cx="6938280" cy="411444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Server Requirement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3" name="Table 2"/>
          <p:cNvGraphicFramePr/>
          <p:nvPr/>
        </p:nvGraphicFramePr>
        <p:xfrm>
          <a:off x="928800" y="2000160"/>
          <a:ext cx="3285720" cy="3947760"/>
        </p:xfrm>
        <a:graphic>
          <a:graphicData uri="http://schemas.openxmlformats.org/drawingml/2006/table">
            <a:tbl>
              <a:tblPr/>
              <a:tblGrid>
                <a:gridCol w="3286080"/>
              </a:tblGrid>
              <a:tr h="13158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Application</a:t>
                      </a:r>
                      <a:endParaRPr b="0" lang="en-IN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bbe0e3"/>
                    </a:solidFill>
                  </a:tcPr>
                </a:tc>
              </a:tr>
              <a:tr h="13158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Operating System</a:t>
                      </a:r>
                      <a:endParaRPr b="0" lang="en-IN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6f3f4"/>
                    </a:solidFill>
                  </a:tcPr>
                </a:tc>
              </a:tr>
              <a:tr h="131616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Hardware Network</a:t>
                      </a:r>
                      <a:endParaRPr b="0" lang="en-IN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3f9f9"/>
                    </a:solidFill>
                  </a:tcPr>
                </a:tc>
              </a:tr>
            </a:tbl>
          </a:graphicData>
        </a:graphic>
      </p:graphicFrame>
      <p:sp>
        <p:nvSpPr>
          <p:cNvPr id="244" name="CustomShape 3"/>
          <p:cNvSpPr/>
          <p:nvPr/>
        </p:nvSpPr>
        <p:spPr>
          <a:xfrm>
            <a:off x="4929120" y="1989000"/>
            <a:ext cx="3526920" cy="411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CustomShape 4"/>
          <p:cNvSpPr/>
          <p:nvPr/>
        </p:nvSpPr>
        <p:spPr>
          <a:xfrm>
            <a:off x="5214960" y="1989000"/>
            <a:ext cx="3928680" cy="411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427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Software (ERP)</a:t>
            </a:r>
            <a:endParaRPr b="0" lang="en-IN" sz="36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endParaRPr b="0" lang="en-IN" sz="36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Platform</a:t>
            </a:r>
            <a:br/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36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Infrastructure</a:t>
            </a:r>
            <a:endParaRPr b="0" lang="en-IN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Two Solutions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Shape 2"/>
          <p:cNvSpPr txBox="1"/>
          <p:nvPr/>
        </p:nvSpPr>
        <p:spPr>
          <a:xfrm>
            <a:off x="684360" y="198900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Buy more servers and recourses.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Move to Cloud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Picture 6" descr="EmailCloud_image.png"/>
          <p:cNvPicPr/>
          <p:nvPr/>
        </p:nvPicPr>
        <p:blipFill>
          <a:blip r:embed="rId1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4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About Cloud Computing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Shape 2"/>
          <p:cNvSpPr txBox="1"/>
          <p:nvPr/>
        </p:nvSpPr>
        <p:spPr>
          <a:xfrm>
            <a:off x="685800" y="1643040"/>
            <a:ext cx="7918200" cy="48574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 algn="just">
              <a:lnSpc>
                <a:spcPct val="100000"/>
              </a:lnSpc>
              <a:spcBef>
                <a:spcPts val="879"/>
              </a:spcBef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“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practices of using a network of remote servers hosted on the Internet to store, manage, and process data, rather than a local server or a personal computer.”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1" name="Picture 6" descr="EmailCloud_image.png"/>
          <p:cNvPicPr/>
          <p:nvPr/>
        </p:nvPicPr>
        <p:blipFill>
          <a:blip r:embed="rId1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 6" descr="EmailCloud_image.png"/>
          <p:cNvPicPr/>
          <p:nvPr/>
        </p:nvPicPr>
        <p:blipFill>
          <a:blip r:embed="rId1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  <p:sp>
        <p:nvSpPr>
          <p:cNvPr id="253" name="CustomShape 1"/>
          <p:cNvSpPr/>
          <p:nvPr/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Computing 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254" name="CustomShape 2"/>
          <p:cNvSpPr/>
          <p:nvPr/>
        </p:nvSpPr>
        <p:spPr>
          <a:xfrm>
            <a:off x="457200" y="1413000"/>
            <a:ext cx="8229240" cy="4887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42720">
              <a:lnSpc>
                <a:spcPct val="90000"/>
              </a:lnSpc>
              <a:spcBef>
                <a:spcPts val="400"/>
              </a:spcBef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Computing refers to both the applications delivered as services over the Internet and the hardware and systems software in the datacenters that provide those services.</a:t>
            </a:r>
            <a:endParaRPr b="0" lang="en-IN" sz="32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tabLst>
                <a:tab algn="l" pos="0"/>
              </a:tabLst>
            </a:pPr>
            <a:endParaRPr b="0" lang="en-IN" sz="32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datacenter hardware and software is what we will call a Cloud.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Computing with Amazon Web Services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Shape 2"/>
          <p:cNvSpPr txBox="1"/>
          <p:nvPr/>
        </p:nvSpPr>
        <p:spPr>
          <a:xfrm>
            <a:off x="685800" y="1981080"/>
            <a:ext cx="7772040" cy="44478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 algn="just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  </a:t>
            </a:r>
            <a:r>
              <a:rPr b="0" lang="en-IN" sz="40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Amazon Web Services (AWS) </a:t>
            </a:r>
            <a:r>
              <a:rPr b="0" lang="en-IN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is a secure cloud services platform, offering compute power, database storage, content delivery and other functionality to help businesses scale and grow.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Features of AWS Cloud Computing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i="1" lang="en-IN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Low Cost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i="1" lang="en-IN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Agility and Instant Elasticity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i="1" lang="en-IN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Open and Flexible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i="1" lang="en-IN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Secure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i="1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Multitents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br/>
            <a:br/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As a business: </a:t>
            </a:r>
            <a:r>
              <a:rPr b="1" lang="en-US" sz="32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Cloud Service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Content Placeholder 3" descr="internet as cloud.png"/>
          <p:cNvPicPr/>
          <p:nvPr/>
        </p:nvPicPr>
        <p:blipFill>
          <a:blip r:embed="rId1"/>
          <a:stretch/>
        </p:blipFill>
        <p:spPr>
          <a:xfrm>
            <a:off x="714240" y="1981080"/>
            <a:ext cx="7929360" cy="4590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br/>
            <a:r>
              <a:rPr b="1" lang="en-IN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Models of Cloud Computing</a:t>
            </a:r>
            <a:br/>
            <a:br/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 algn="just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There are three main models for cloud computing. Each model represents a different part of the cloud computing stack.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i="1" lang="en-IN" sz="28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Infrastructure as a Service (IaaS)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i="1" lang="en-IN" sz="28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Platform as a Service (PaaS)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i="1" lang="en-IN" sz="28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Software as a Service (SaaS)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br/>
            <a:br/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Content Placeholder 3" descr="Services.jpg"/>
          <p:cNvPicPr/>
          <p:nvPr/>
        </p:nvPicPr>
        <p:blipFill>
          <a:blip r:embed="rId1"/>
          <a:stretch/>
        </p:blipFill>
        <p:spPr>
          <a:xfrm>
            <a:off x="0" y="285840"/>
            <a:ext cx="9143640" cy="657180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IAAS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5" name="Content Placeholder 3" descr="ias.png"/>
          <p:cNvPicPr/>
          <p:nvPr/>
        </p:nvPicPr>
        <p:blipFill>
          <a:blip r:embed="rId1"/>
          <a:stretch/>
        </p:blipFill>
        <p:spPr>
          <a:xfrm>
            <a:off x="714240" y="2357280"/>
            <a:ext cx="7772040" cy="131688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PAAS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Content Placeholder 3" descr="saas.png"/>
          <p:cNvPicPr/>
          <p:nvPr/>
        </p:nvPicPr>
        <p:blipFill>
          <a:blip r:embed="rId1"/>
          <a:stretch/>
        </p:blipFill>
        <p:spPr>
          <a:xfrm>
            <a:off x="857160" y="2357280"/>
            <a:ext cx="7772040" cy="131688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SAAS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Content Placeholder 3" descr="paas.png"/>
          <p:cNvPicPr/>
          <p:nvPr/>
        </p:nvPicPr>
        <p:blipFill>
          <a:blip r:embed="rId1"/>
          <a:stretch/>
        </p:blipFill>
        <p:spPr>
          <a:xfrm>
            <a:off x="785880" y="2857320"/>
            <a:ext cx="7772040" cy="131688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USES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Shape 2"/>
          <p:cNvSpPr txBox="1"/>
          <p:nvPr/>
        </p:nvSpPr>
        <p:spPr>
          <a:xfrm>
            <a:off x="685800" y="1714320"/>
            <a:ext cx="7772040" cy="43812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 algn="just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Helps to use applications without installations.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641"/>
              </a:spcBef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 algn="just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Access the personal files and data from any computer with internet access.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641"/>
              </a:spcBef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 algn="just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technology allows much more efficient computation by centralizing storage, memory and processing 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561"/>
              </a:spcBef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561"/>
              </a:spcBef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2" name="Picture 6" descr="EmailCloud_image.png"/>
          <p:cNvPicPr/>
          <p:nvPr/>
        </p:nvPicPr>
        <p:blipFill>
          <a:blip r:embed="rId1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5 Essential Cloud Characteristics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On-demand self-service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Broad network access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Resource pooling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Location independence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Rapid elasticity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Measured service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Pay as you go.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Picture 6" descr="EmailCloud_image.png"/>
          <p:cNvPicPr/>
          <p:nvPr/>
        </p:nvPicPr>
        <p:blipFill>
          <a:blip r:embed="rId1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AMAZON EC2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80000"/>
              </a:lnSpc>
              <a:spcBef>
                <a:spcPts val="360"/>
              </a:spcBef>
              <a:buClr>
                <a:srgbClr val="0070c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70c0"/>
                </a:solidFill>
                <a:latin typeface="Arial"/>
                <a:ea typeface="ＭＳ Ｐゴシック"/>
              </a:rPr>
              <a:t>Elastic Compute Cloud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Rent virtual machine instances to run your software. Monitor and increase / decrease the number of VMs as demand changes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How to use: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Create an Amazon Machine Image (AMI): applications, libraries, data and associated settings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Upload AMI to Amazon S3 (simple storage service)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Use Amazon EC2 web service to configure security and network access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Choose OS, start AMI instances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Monitor &amp; control via web interface or APIs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8" name="Picture 6" descr="EmailCloud_image.png"/>
          <p:cNvPicPr/>
          <p:nvPr/>
        </p:nvPicPr>
        <p:blipFill>
          <a:blip r:embed="rId1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AMAZON EC2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Characteristics: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90000"/>
              </a:lnSpc>
              <a:spcBef>
                <a:spcPts val="360"/>
              </a:spcBef>
              <a:buClr>
                <a:srgbClr val="ff0000"/>
              </a:buClr>
              <a:buFont typeface="Symbol" charset="2"/>
              <a:buChar char=""/>
            </a:pP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Elastic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: increase or decrease capacity </a:t>
            </a:r>
            <a:r>
              <a:rPr b="1" i="1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within minutes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Monitor and control via EC2 APIs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Completely controlled: root access to each instances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Flexible: choose your OS, software packages…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Redhat, Ubuntu, openSuse, Windows Sever 2003,…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Small, large, extra large instances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Reliable: Amazon datacenters, high availability and redundancies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Secure: web interface to configure firewall settings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Cost: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CPU: small instance, $0.10 per hour for Linux, $0.125 per hour for Windows (1.0-1.2 GHz 2007 Opteron or 2007 Xeon processor)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Bandwidth: in $0.10, out $0.17 per GB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Storage: $0.10 per GB-month, </a:t>
            </a:r>
            <a:r>
              <a:rPr b="0" lang="it-IT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$0.10 per 1 million I/O requests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1" name="Picture 6" descr="EmailCloud_image.png"/>
          <p:cNvPicPr/>
          <p:nvPr/>
        </p:nvPicPr>
        <p:blipFill>
          <a:blip r:embed="rId1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How many </a:t>
            </a:r>
            <a:r>
              <a:rPr b="1" lang="en-US" sz="3600" spc="-1" strike="noStrike">
                <a:solidFill>
                  <a:srgbClr val="00b0f0"/>
                </a:solidFill>
                <a:latin typeface="Arial"/>
                <a:ea typeface="ＭＳ Ｐゴシック"/>
              </a:rPr>
              <a:t>CLOUD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Software and hardware to operate datacenters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80000"/>
              </a:lnSpc>
              <a:spcBef>
                <a:spcPts val="360"/>
              </a:spcBef>
              <a:buClr>
                <a:srgbClr val="ff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Public cloud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: cloud used to provide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utility computing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Amazon EC2: Amazon datacenters, Xen, EC2 APIs and administrative interface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Google AppEngine: Google data center, GFS, AppEngine APIs, administrative interface…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Batch processing softwares: MapReduce, Hadoop, Pig, Dryad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80000"/>
              </a:lnSpc>
              <a:spcBef>
                <a:spcPts val="360"/>
              </a:spcBef>
              <a:buClr>
                <a:srgbClr val="ff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Private cloud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: datacenters, not available for rental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How about the academic clouds?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80000"/>
              </a:lnSpc>
              <a:spcBef>
                <a:spcPts val="360"/>
              </a:spcBef>
              <a:buClr>
                <a:srgbClr val="ff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ＭＳ Ｐゴシック"/>
              </a:rPr>
              <a:t>Protected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clouds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4" name="Picture 6" descr="EmailCloud_image.png"/>
          <p:cNvPicPr/>
          <p:nvPr/>
        </p:nvPicPr>
        <p:blipFill>
          <a:blip r:embed="rId1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CustomShape 1"/>
          <p:cNvSpPr/>
          <p:nvPr/>
        </p:nvSpPr>
        <p:spPr>
          <a:xfrm>
            <a:off x="539640" y="357120"/>
            <a:ext cx="8208720" cy="7606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Components</a:t>
            </a:r>
            <a:endParaRPr b="0" lang="en-IN" sz="4400" spc="-1" strike="noStrike">
              <a:latin typeface="Arial"/>
            </a:endParaRPr>
          </a:p>
        </p:txBody>
      </p:sp>
      <p:pic>
        <p:nvPicPr>
          <p:cNvPr id="286" name="Picture 5" descr="C:\Users\Munjal Shah\Desktop\351px-CloudComputingStackLarge.svg.png"/>
          <p:cNvPicPr/>
          <p:nvPr/>
        </p:nvPicPr>
        <p:blipFill>
          <a:blip r:embed="rId1"/>
          <a:stretch/>
        </p:blipFill>
        <p:spPr>
          <a:xfrm>
            <a:off x="2357280" y="1285920"/>
            <a:ext cx="3342960" cy="4276440"/>
          </a:xfrm>
          <a:prstGeom prst="rect">
            <a:avLst/>
          </a:prstGeom>
          <a:ln w="9360">
            <a:noFill/>
          </a:ln>
        </p:spPr>
      </p:pic>
      <p:pic>
        <p:nvPicPr>
          <p:cNvPr id="287" name="Picture 6" descr="EmailCloud_image.png"/>
          <p:cNvPicPr/>
          <p:nvPr/>
        </p:nvPicPr>
        <p:blipFill>
          <a:blip r:embed="rId2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1332000" y="357120"/>
            <a:ext cx="5668560" cy="6390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Components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285840" y="1461960"/>
            <a:ext cx="8429400" cy="2144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Application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</a:t>
            </a:r>
            <a:r>
              <a:rPr b="0" i="1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application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leverages the Cloud in </a:t>
            </a:r>
            <a:r>
              <a:rPr b="0" lang="en-US" sz="15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"/>
              </a:rPr>
              <a:t>software architecture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often eliminating the need to install and run the application on the customer's own computer, thus alleviating the burden of software maintenance, ongoing operation, and support. 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5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5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"/>
              </a:rPr>
              <a:t>Web application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5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3"/>
              </a:rPr>
              <a:t>Facebook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5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5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4"/>
              </a:rPr>
              <a:t>Software as a service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5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5"/>
              </a:rPr>
              <a:t>Google Apps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5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6"/>
              </a:rPr>
              <a:t>SAP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&amp; </a:t>
            </a:r>
            <a:r>
              <a:rPr b="0" lang="en-US" sz="15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7"/>
              </a:rPr>
              <a:t>Salesforce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5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5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8"/>
              </a:rPr>
              <a:t>Software plus services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5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9"/>
              </a:rPr>
              <a:t>Microsoft Online Services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90" name="CustomShape 3"/>
          <p:cNvSpPr/>
          <p:nvPr/>
        </p:nvSpPr>
        <p:spPr>
          <a:xfrm>
            <a:off x="357120" y="3857760"/>
            <a:ext cx="8572320" cy="1794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Client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client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consists of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0"/>
              </a:rPr>
              <a:t>computer hardware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and/or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1"/>
              </a:rPr>
              <a:t>computer software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which relies on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2"/>
              </a:rPr>
              <a:t>The Cloud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for application delivery, or which is specifically designed for delivery of cloud services and which, in either case, is essentially useless without it.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3"/>
              </a:rPr>
              <a:t>Mobile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4"/>
              </a:rPr>
              <a:t>Android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5"/>
              </a:rPr>
              <a:t>iPhone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)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6"/>
              </a:rPr>
              <a:t>Thick client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/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7"/>
              </a:rPr>
              <a:t>Web browser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8"/>
              </a:rPr>
              <a:t>Google Chrome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9"/>
              </a:rPr>
              <a:t>Mozilla Firefox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291" name="Picture 6" descr="EmailCloud_image.png"/>
          <p:cNvPicPr/>
          <p:nvPr/>
        </p:nvPicPr>
        <p:blipFill>
          <a:blip r:embed="rId20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3071880" y="357120"/>
            <a:ext cx="3928680" cy="4561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Components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214200" y="880920"/>
            <a:ext cx="8714880" cy="52002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Infrastructure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infrastructure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such as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"/>
              </a:rPr>
              <a:t>Infrastructure as a service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is the delivery of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"/>
              </a:rPr>
              <a:t>computer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3"/>
              </a:rPr>
              <a:t>infrastructure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typically a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4"/>
              </a:rPr>
              <a:t>platform virtualization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environment,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5"/>
              </a:rPr>
              <a:t>as a service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 example:</a:t>
            </a: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6"/>
              </a:rPr>
              <a:t>Full virtualization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7"/>
              </a:rPr>
              <a:t>GoGrid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8"/>
              </a:rPr>
              <a:t>Skytap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9"/>
              </a:rPr>
              <a:t>Grid computing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0"/>
              </a:rPr>
              <a:t>Sun Grid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1"/>
              </a:rPr>
              <a:t>Compute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2"/>
              </a:rPr>
              <a:t>Amazon Elastic Compute Cloud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Platform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platform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such as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3"/>
              </a:rPr>
              <a:t>Platform as a service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the delivery of a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4"/>
              </a:rPr>
              <a:t>computing platform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and/or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5"/>
              </a:rPr>
              <a:t>solution stack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6"/>
              </a:rPr>
              <a:t>as a service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facilitates deployment of applications without the cost and complexity of buying and managing the underlying hardware and software layers.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 example:</a:t>
            </a: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7"/>
              </a:rPr>
              <a:t>Web application frameworks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n-IN" sz="1600" spc="-1" strike="noStrike">
              <a:latin typeface="Arial"/>
            </a:endParaRPr>
          </a:p>
          <a:p>
            <a:pPr lvl="1" marL="4572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8"/>
              </a:rPr>
              <a:t>Ajax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9"/>
              </a:rPr>
              <a:t>Caspio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600" spc="-1" strike="noStrike">
              <a:latin typeface="Arial"/>
            </a:endParaRPr>
          </a:p>
          <a:p>
            <a:pPr lvl="1" marL="4572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0"/>
              </a:rPr>
              <a:t>Python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1"/>
              </a:rPr>
              <a:t>Django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2"/>
              </a:rPr>
              <a:t>Google App Engine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600" spc="-1" strike="noStrike">
              <a:latin typeface="Arial"/>
            </a:endParaRPr>
          </a:p>
          <a:p>
            <a:pPr lvl="1" marL="4572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3"/>
              </a:rPr>
              <a:t>Ruby on Rails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4"/>
              </a:rPr>
              <a:t>Heroku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5"/>
              </a:rPr>
              <a:t>Web hosting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6"/>
              </a:rPr>
              <a:t>Mosso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7"/>
              </a:rPr>
              <a:t>Clustered Cloud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294" name="Picture 6" descr="EmailCloud_image.png"/>
          <p:cNvPicPr/>
          <p:nvPr/>
        </p:nvPicPr>
        <p:blipFill>
          <a:blip r:embed="rId28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"/>
          <p:cNvSpPr/>
          <p:nvPr/>
        </p:nvSpPr>
        <p:spPr>
          <a:xfrm>
            <a:off x="3071880" y="466560"/>
            <a:ext cx="3928680" cy="4561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Components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250920" y="1484280"/>
            <a:ext cx="8429400" cy="20077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Service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service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includes "products, services and solutions that are delivered and consumed in real-time over the Internet.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 example: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"/>
              </a:rPr>
              <a:t>Identity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"/>
              </a:rPr>
              <a:t>OAuth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3"/>
              </a:rPr>
              <a:t>OpenID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4"/>
              </a:rPr>
              <a:t>Payments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5"/>
              </a:rPr>
              <a:t>Amazon Flexible Payments Service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6"/>
              </a:rPr>
              <a:t>Google Checkout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7"/>
              </a:rPr>
              <a:t>PayPal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8"/>
              </a:rPr>
              <a:t>Mapping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9"/>
              </a:rPr>
              <a:t>Google Maps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0"/>
              </a:rPr>
              <a:t>Yahoo! Maps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1"/>
              </a:rPr>
              <a:t>Search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2"/>
              </a:rPr>
              <a:t>Alexa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3"/>
              </a:rPr>
              <a:t>Google Custom Search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4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4"/>
              </a:rPr>
              <a:t>Yahoo! BOSS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7" name="CustomShape 3"/>
          <p:cNvSpPr/>
          <p:nvPr/>
        </p:nvSpPr>
        <p:spPr>
          <a:xfrm>
            <a:off x="285840" y="3906720"/>
            <a:ext cx="8143560" cy="1793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Storage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Cloud storage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involves the delivery of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5"/>
              </a:rPr>
              <a:t>data storage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6"/>
              </a:rPr>
              <a:t>as a service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including database-like services, often billed on a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7"/>
              </a:rPr>
              <a:t>utility computing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basis, e.g., per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8"/>
              </a:rPr>
              <a:t>gigabyte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per month.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 example: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9"/>
              </a:rPr>
              <a:t>Database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0"/>
              </a:rPr>
              <a:t>Amazon SimpleDB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1"/>
              </a:rPr>
              <a:t>Google App Engine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's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2"/>
              </a:rPr>
              <a:t>BigTable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)</a:t>
            </a: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3"/>
              </a:rPr>
              <a:t>Web service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(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4"/>
              </a:rPr>
              <a:t>Amazon Simple Storage Service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, </a:t>
            </a:r>
            <a:r>
              <a:rPr b="0" lang="en-US" sz="16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5"/>
              </a:rPr>
              <a:t>Nirvanix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)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298" name="Picture 6" descr="EmailCloud_image.png"/>
          <p:cNvPicPr/>
          <p:nvPr/>
        </p:nvPicPr>
        <p:blipFill>
          <a:blip r:embed="rId26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CHALLENGES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0" name="Table 2"/>
          <p:cNvGraphicFramePr/>
          <p:nvPr/>
        </p:nvGraphicFramePr>
        <p:xfrm>
          <a:off x="685800" y="1981080"/>
          <a:ext cx="7702200" cy="1050480"/>
        </p:xfrm>
        <a:graphic>
          <a:graphicData uri="http://schemas.openxmlformats.org/drawingml/2006/table">
            <a:tbl>
              <a:tblPr/>
              <a:tblGrid>
                <a:gridCol w="3690720"/>
                <a:gridCol w="4011480"/>
              </a:tblGrid>
              <a:tr h="347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ＭＳ Ｐゴシック"/>
                        </a:rPr>
                        <a:t>Challenge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ＭＳ Ｐゴシック"/>
                        </a:rPr>
                        <a:t>Opportunity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47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Availability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Multiple providers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347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Data lock-in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Standardization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Data Confidentiality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Encryption, VLANs, Firewalls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301" name="CustomShape 3"/>
          <p:cNvSpPr/>
          <p:nvPr/>
        </p:nvSpPr>
        <p:spPr>
          <a:xfrm>
            <a:off x="755640" y="4005360"/>
            <a:ext cx="7776720" cy="28335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Online storage service The Linkup closed August 8, 2008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- 20,000 paying subscribers lost their data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Coghead, a cloud vendor closed its business in Feb 19,2009</a:t>
            </a:r>
            <a:endParaRPr b="0" lang="en-IN" sz="1800" spc="-1" strike="noStrike">
              <a:latin typeface="Arial"/>
            </a:endParaRPr>
          </a:p>
          <a:p>
            <a:pPr marL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- Customers need to rewrite their applications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pic>
        <p:nvPicPr>
          <p:cNvPr id="302" name="Picture 6" descr="EmailCloud_image.png"/>
          <p:cNvPicPr/>
          <p:nvPr/>
        </p:nvPicPr>
        <p:blipFill>
          <a:blip r:embed="rId1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CHALLENGES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4" name="Table 2"/>
          <p:cNvGraphicFramePr/>
          <p:nvPr/>
        </p:nvGraphicFramePr>
        <p:xfrm>
          <a:off x="611280" y="1981080"/>
          <a:ext cx="8208720" cy="3679560"/>
        </p:xfrm>
        <a:graphic>
          <a:graphicData uri="http://schemas.openxmlformats.org/drawingml/2006/table">
            <a:tbl>
              <a:tblPr/>
              <a:tblGrid>
                <a:gridCol w="3595680"/>
                <a:gridCol w="4613040"/>
              </a:tblGrid>
              <a:tr h="579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ＭＳ Ｐゴシック"/>
                        </a:rPr>
                        <a:t>Challenge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ＭＳ Ｐゴシック"/>
                        </a:rPr>
                        <a:t>Opportunity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9270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Data transfer bottlenecks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FedEx-ing disks, reuse data multiple times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Performance unpredictability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Improved VM support, flash memory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Scalable storage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Invent scalable storage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8013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Bugs in large distributed systems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Invent Debugger using Distributed VMs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5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Scaling quickly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ＭＳ Ｐゴシック"/>
                        </a:rPr>
                        <a:t>Invent Auto-Scaler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pic>
        <p:nvPicPr>
          <p:cNvPr id="305" name="Picture 6" descr="EmailCloud_image.png"/>
          <p:cNvPicPr/>
          <p:nvPr/>
        </p:nvPicPr>
        <p:blipFill>
          <a:blip r:embed="rId1"/>
          <a:stretch/>
        </p:blipFill>
        <p:spPr>
          <a:xfrm>
            <a:off x="8043840" y="585792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GROWTH CHALLENGES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Shape 2"/>
          <p:cNvSpPr txBox="1"/>
          <p:nvPr/>
        </p:nvSpPr>
        <p:spPr>
          <a:xfrm>
            <a:off x="685800" y="1981080"/>
            <a:ext cx="7772040" cy="281592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Data transfer bottle neck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WAN cost reduces slowest: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743040" indent="-28548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2003 </a:t>
            </a:r>
            <a:r>
              <a:rPr b="0" lang="en-US" sz="1800" spc="-1" strike="noStrike">
                <a:solidFill>
                  <a:srgbClr val="000000"/>
                </a:solidFill>
                <a:latin typeface="Wingdings"/>
                <a:ea typeface="ＭＳ Ｐゴシック"/>
              </a:rPr>
              <a:t>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2008: WAN 2.7x, CPU 16x, storage 10x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Fastest way to transfer large data: send the disks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Performance unpredictability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Large variation in I/O operations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Inefficiency in I/O virtualization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8" name="Picture 6" descr="EmailCloud_image.png"/>
          <p:cNvPicPr/>
          <p:nvPr/>
        </p:nvPicPr>
        <p:blipFill>
          <a:blip r:embed="rId1"/>
          <a:stretch/>
        </p:blipFill>
        <p:spPr>
          <a:xfrm>
            <a:off x="8043840" y="585792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Future of Cloud Computing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 algn="just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 a May 2008 report, Merrill Lynch estimated that 12% of the worldwide software market would go to the cloud in that period.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IBM said it would spend $360 million to build a cloud computing data center in Research Triangle Park, N.C., bringing to nine its total of cloud computing centers worldwide.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Dell CEO </a:t>
            </a:r>
            <a:r>
              <a:rPr b="0" lang="en-US" sz="18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"/>
              </a:rPr>
              <a:t>Michael Dell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says. "Now it's a several-hundred-million-dollar business, and it will be a billion-dollar business in a couple of years—it's on a tear."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36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Microsoft, has made cloud computing one of five priorities for fiscal 2009, according to a recent memo from CEO </a:t>
            </a:r>
            <a:r>
              <a:rPr b="0" lang="en-US" sz="18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"/>
              </a:rPr>
              <a:t>Steve Ballmer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1" name="Picture 6" descr="EmailCloud_image.png"/>
          <p:cNvPicPr/>
          <p:nvPr/>
        </p:nvPicPr>
        <p:blipFill>
          <a:blip r:embed="rId3"/>
          <a:stretch/>
        </p:blipFill>
        <p:spPr>
          <a:xfrm>
            <a:off x="8043840" y="585792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Picture 2" descr=""/>
          <p:cNvPicPr/>
          <p:nvPr/>
        </p:nvPicPr>
        <p:blipFill>
          <a:blip r:embed="rId1"/>
          <a:stretch/>
        </p:blipFill>
        <p:spPr>
          <a:xfrm>
            <a:off x="2000160" y="1057320"/>
            <a:ext cx="6953040" cy="5325840"/>
          </a:xfrm>
          <a:prstGeom prst="rect">
            <a:avLst/>
          </a:prstGeom>
          <a:ln w="9360">
            <a:noFill/>
          </a:ln>
        </p:spPr>
      </p:pic>
      <p:sp>
        <p:nvSpPr>
          <p:cNvPr id="313" name="CustomShape 1"/>
          <p:cNvSpPr/>
          <p:nvPr/>
        </p:nvSpPr>
        <p:spPr>
          <a:xfrm>
            <a:off x="2500200" y="1214280"/>
            <a:ext cx="2928600" cy="5285880"/>
          </a:xfrm>
          <a:prstGeom prst="roundRect">
            <a:avLst>
              <a:gd name="adj" fmla="val 16667"/>
            </a:avLst>
          </a:prstGeom>
          <a:ln>
            <a:solidFill>
              <a:schemeClr val="bg1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</p:sp>
      <p:sp>
        <p:nvSpPr>
          <p:cNvPr id="314" name="CustomShape 2"/>
          <p:cNvSpPr/>
          <p:nvPr/>
        </p:nvSpPr>
        <p:spPr>
          <a:xfrm>
            <a:off x="928800" y="2071800"/>
            <a:ext cx="3499920" cy="3357360"/>
          </a:xfrm>
          <a:prstGeom prst="wedgeRoundRectCallout">
            <a:avLst>
              <a:gd name="adj1" fmla="val 67583"/>
              <a:gd name="adj2" fmla="val -19087"/>
              <a:gd name="adj3" fmla="val 16667"/>
            </a:avLst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Look to the cloud!</a:t>
            </a:r>
            <a:endParaRPr b="0" lang="en-IN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Pay for the bandwidth and server resources that you need. When your work is done then turn the whole thing off!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15" name="Picture 6" descr="EmailCloud_image.png"/>
          <p:cNvPicPr/>
          <p:nvPr/>
        </p:nvPicPr>
        <p:blipFill>
          <a:blip r:embed="rId2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Shape 1"/>
          <p:cNvSpPr txBox="1"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ＭＳ Ｐゴシック"/>
              </a:rPr>
              <a:t>References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Shape 2"/>
          <p:cNvSpPr txBox="1"/>
          <p:nvPr/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Wikipedia </a:t>
            </a:r>
            <a:r>
              <a:rPr b="0" lang="en-US" sz="20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1"/>
              </a:rPr>
              <a:t>http://en.wikipedia.org/wiki/Cloud_computing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Above the Clouds: A Berkeley View of Cloud Computing </a:t>
            </a:r>
            <a:r>
              <a:rPr b="0" lang="en-US" sz="20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2"/>
              </a:rPr>
              <a:t>http://www.eecs.berkeley.edu/Pubs/TechRpts/2009/EECS-2009-28.pdf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How Cloud Computing Is Changing the World </a:t>
            </a:r>
            <a:r>
              <a:rPr b="0" lang="en-US" sz="20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3"/>
              </a:rPr>
              <a:t>http://www.businessweek.com/technology/content/aug2008/tc2008082_445669.htm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Future of Cloud Computing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	</a:t>
            </a:r>
            <a:r>
              <a:rPr b="0" lang="en-US" sz="2000" spc="-1" strike="noStrike" u="sng">
                <a:solidFill>
                  <a:srgbClr val="009999"/>
                </a:solidFill>
                <a:uFillTx/>
                <a:latin typeface="Arial"/>
                <a:ea typeface="ＭＳ Ｐゴシック"/>
                <a:hlinkClick r:id="rId4"/>
              </a:rPr>
              <a:t>http://mba.tuck.dartmouth.edu/digital/Programs/MBAFellowsProgramArchive/08_rana.pdf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Picture 6" descr="EmailCloud_image.png"/>
          <p:cNvPicPr/>
          <p:nvPr/>
        </p:nvPicPr>
        <p:blipFill>
          <a:blip r:embed="rId5"/>
          <a:stretch/>
        </p:blipFill>
        <p:spPr>
          <a:xfrm>
            <a:off x="7848720" y="5638680"/>
            <a:ext cx="1099800" cy="99972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3629</TotalTime>
  <Application>LibreOffice/6.4.7.2$Linux_X86_64 LibreOffice_project/40$Build-2</Application>
  <Words>1301</Words>
  <Paragraphs>264</Paragraphs>
  <Company>Enabling Concepts Ltd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2008-09-02T09:08:32Z</dcterms:created>
  <dc:creator>Helen Kerrigan</dc:creator>
  <dc:description/>
  <dc:language>en-IN</dc:language>
  <cp:lastModifiedBy/>
  <dcterms:modified xsi:type="dcterms:W3CDTF">2021-05-15T10:06:54Z</dcterms:modified>
  <cp:revision>161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Enabling Concepts Ltd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19</vt:i4>
  </property>
  <property fmtid="{D5CDD505-2E9C-101B-9397-08002B2CF9AE}" pid="9" name="PresentationFormat">
    <vt:lpwstr>On-screen Show (4:3)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43</vt:i4>
  </property>
</Properties>
</file>